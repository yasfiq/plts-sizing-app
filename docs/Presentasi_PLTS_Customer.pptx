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A580C"/>
                </a:solidFill>
              </a:defRPr>
            </a:pPr>
            <a:r>
              <a:t>PITCH DECK EKSLUSIF CUSTOMER</a:t>
            </a:r>
          </a:p>
          <a:p>
            <a:pPr>
              <a:spcAft>
                <a:spcPts val="1200"/>
              </a:spcAft>
              <a:defRPr sz="2800" b="1">
                <a:solidFill>
                  <a:srgbClr val="0F172A"/>
                </a:solidFill>
              </a:defRPr>
            </a:pPr>
            <a:r>
              <a:t>SOLUSI ENERGI TERBARU PLTS INDUSTRI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Transformasi Efisiensi Biaya Operasional Listrik &amp; Dekarbonisasi Perusahaan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TANTANGAN BIAYA ENERGI SAAT INI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Faktor pendorong perusahaan beralih ke pembangkitan surya mandiri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14016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14016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21396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Kenaikan TDL Industri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Tarif listrik grid komersial terus merangkak naik tiap tahun, membebani struktur OPEX bulanan.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1" y="1645920"/>
            <a:ext cx="2414016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64991" y="1645920"/>
            <a:ext cx="2414016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1" y="1874520"/>
            <a:ext cx="21396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Penalti Beban Puncak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Lonjakan konsumsi listrik di jam siang hari sering berujung pada penalti kelebihan beban.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98464" y="1645920"/>
            <a:ext cx="2414016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8464" y="1645920"/>
            <a:ext cx="2414016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5624" y="1874520"/>
            <a:ext cx="21396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Tuntutan ESG / Net-Zero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Komitmen korporasi global terhadap dekarbonisasi rantai pasok dan efisiensi hijau.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SOLUSI TERINTEGRASI KAMI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Sistem pembangkitan surya handal dengan pendekatan engineering presisi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14016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14016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21396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Topologi Fleksibel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Desain On-Grid, Off-Grid, atau Hybrid sesuai profil beban dan kebutuhan suplai daya.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1" y="1645920"/>
            <a:ext cx="2414016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64991" y="1645920"/>
            <a:ext cx="2414016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1" y="1874520"/>
            <a:ext cx="21396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Simulasi Data Jam-an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Perhitungan akurat berbasis profil beban riil dan radiasi matahari lokal (NASA/Ninja).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98464" y="1645920"/>
            <a:ext cx="2414016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8464" y="1645920"/>
            <a:ext cx="2414016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5624" y="1874520"/>
            <a:ext cx="21396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Garansi Performa 25 Tahun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Komponen Tier-1 berstandar internasional dengan tingkat degradasi minimal.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METODOLOGI &amp; SIZING PRESISI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Menjamin performa pembangkitan optimal sepanjang masa pakai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749039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749039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38327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Audit &amp; Pemodelan Teknis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Analisis profil beban 24 jam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Survey radiasi &amp; suhu lokasi ekstrem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Kalkulasi batas beban struktur atap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59" y="1645920"/>
            <a:ext cx="3749039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9159" y="1645920"/>
            <a:ext cx="3749039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39" y="1874520"/>
            <a:ext cx="338327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Keandalan Elektrikal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Optimum Vmp pada rentang MPPT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Proteksi tegangan Voc suhu dingin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Kapasitas arus DC &amp; AC seimbang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KELAYAKAN &amp; PROYEKSI FINANSIAL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Keuntungan investasi jangka panjang dengan cashflow positif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810512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10512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59105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CAPEX Transparan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Rincian biaya total material &amp; instalasi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0048" y="1828800"/>
            <a:ext cx="1810512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70048" y="1828800"/>
            <a:ext cx="1810512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9776" y="2103120"/>
            <a:ext cx="159105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Payback (BEP)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Estimasi titik impas cepat 4 - 6 tahun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1828800"/>
            <a:ext cx="1810512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08576" y="1828800"/>
            <a:ext cx="1810512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103120"/>
            <a:ext cx="159105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LCOE Kompetitif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Biaya pokok per kWh di bawah PLN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7104" y="1828800"/>
            <a:ext cx="1810512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47104" y="1828800"/>
            <a:ext cx="1810512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103120"/>
            <a:ext cx="159105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NPV Positif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Akumulasi keuntungan 25 tahun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ROADMAP EKSEKUSI PROYEK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Tahapan terstruktur dari audit awal hingga komisioning sistem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1499616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499616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3167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A580C"/>
                </a:solidFill>
              </a:defRPr>
            </a:pPr>
            <a:r>
              <a:t>1. Survey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Audit fisik &amp; beban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57984" y="1828800"/>
            <a:ext cx="1499616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57984" y="1828800"/>
            <a:ext cx="1499616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9424" y="2103120"/>
            <a:ext cx="13167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A580C"/>
                </a:solidFill>
              </a:defRPr>
            </a:pPr>
            <a:r>
              <a:t>2. DED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Simulasi desain &amp; desain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7328" y="1828800"/>
            <a:ext cx="1499616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67328" y="1828800"/>
            <a:ext cx="1499616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2103120"/>
            <a:ext cx="13167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A580C"/>
                </a:solidFill>
              </a:defRPr>
            </a:pPr>
            <a:r>
              <a:t>3. Perizinan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Paralel PLN &amp; SLO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1828800"/>
            <a:ext cx="1499616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76672" y="1828800"/>
            <a:ext cx="1499616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112" y="2103120"/>
            <a:ext cx="13167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A580C"/>
                </a:solidFill>
              </a:defRPr>
            </a:pPr>
            <a:r>
              <a:t>4. Konstruksi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Instalasi &amp; uji fungsi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6016" y="1828800"/>
            <a:ext cx="1499616" cy="2651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86016" y="1828800"/>
            <a:ext cx="1499616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103120"/>
            <a:ext cx="13167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A580C"/>
                </a:solidFill>
              </a:defRPr>
            </a:pPr>
            <a:r>
              <a:t>5. Operasional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Monitoring &amp; garansi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MULAI TRANSISI ENERGI ANDA HARI INI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Dapatkan konsultasi teknis, audit profil beban, dan proposal penawaran komprehensif secara gratis.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6400800" cy="2743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21031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SIAP BERTRANSISI KE ENERGI HIJAU?</a:t>
            </a:r>
          </a:p>
          <a:p>
            <a:pPr>
              <a:spcAft>
                <a:spcPts val="1600"/>
              </a:spcAft>
              <a:defRPr sz="1300">
                <a:solidFill>
                  <a:srgbClr val="CBD5E1"/>
                </a:solidFill>
              </a:defRPr>
            </a:pPr>
            <a:r>
              <a:t>Dapatkan konsultasi teknis, audit profil beban, dan proposal penawaran komprehensif secara gratis.</a:t>
            </a:r>
          </a:p>
          <a:p>
            <a:pPr>
              <a:defRPr sz="1200" b="1">
                <a:solidFill>
                  <a:srgbClr val="EA580C"/>
                </a:solidFill>
              </a:defRPr>
            </a:pPr>
            <a:r>
              <a:t>👉 Hubungi Tim Konsultan Energi Kami untuk Penjadwalan Survey Lokasi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